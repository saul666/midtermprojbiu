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 — Hook: we taught a computer to be a picky trader. Introduce yourselves. Promise: by the end, these three numbers will make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— Teach the game before anything else. Rubber band metaphor. Point at the top panel (they move together), then one red dot (stretched), trace the snap-back. No jargon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 — Left: the business problem — trade everything and ~4 of 5 bets lose. Right: our fix in one sentence — a model that vetoes bad signals. Many grey dots in, few green out. || Gilad, verbatim: Statistical-arbitrage pairs trading relies on price spreads mean-reverting, though structural breaks pose the main risk. We use Pearson correlation and cointegration to select pairs; the question — will an extreme spread revert? — is handled by the supervised learning model. The unit of observation is an extreme event based on the z-score and horizon; our dataset is built from these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Walk the four steps in plain words. The chip is the only formula in the talk — z just measures how stretched the gap is. Gilad’s timing rules get their own slide in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Gilad, verbatim (his slide 7): the strategy in one paragraph, then the key definition — one extreme event, defined by the z-score and horizon, is one row in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Gilad, verbatim (his slide 8): ADF diagnostics and the two-step Engle-Granger regression — regress one stock on its peer, test the residual. The charts show a stable gap vs a broken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Gilad, verbatim (his slide 9): the four no-look-ahead rules. The timeline shows why the model can never peek — nothing to the right of day t is available at prediction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Say the correlation conclusion instead of showing the matrix: correlation finds the look-alikes, the Engle-Granger cointegration test keeps only gaps that statistically snap back. 19,110 → 31 per window; ×12 windows → 4,988 signals. || Gilad, verbatim: To run a statistically sound Pairs Trading strategy, we run the Augmented Dickey-Fuller (ADF) diagnostic tests. We run a two-step Engle-Granger cointegration approach: by regressing the primary asset on its tracking peer, we model the stationary residuals. This allows us to trade high-probability mean-reversion trades.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The most original piece of the project. A monthly map of the whole market: stocks that co-move sit together, sectors form neighborhoods. A stock drifting from its neighborhood warns the pair may be breaking — and the model reads that drift as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 — Why compare: same data, three inductive biases — linear, bagged, boosted — as a robustness check on one ranking task. Linear won the honest rolling test, the forest won the single split, boosting is data-hungry. One line each; the icons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Point at the real curves. Left, ROC: the model ranks — 0.665 here, 0.595 under honest walk-forward. Right, precision-recall: 0.271 average precision against a ≈0.19 base rate — real lift where positives are rare. At our threshold: precision 0.268, recall 0.453, flagging only 30% of events; probabilities calibrated (Brier 0.145). In money terms that lift is the 17.5 → 26.8 win-rate jump — the small demo,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Slow down. Say each takeaway once, cleanly — these three lines are what the room should remember. The strip is the future-work section in one breath.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 — Thank the room,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70432"/>
            <a:ext cx="146304" cy="146304"/>
          </a:xfrm>
          <a:prstGeom prst="rect">
            <a:avLst/>
          </a:prstGeom>
          <a:solidFill>
            <a:srgbClr val="2FD98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10149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 DATA SCIENCE · MIDTERM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" y="164592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Machine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Trade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04672" y="3703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trading + machine learning — a model that picks the winning signals.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 flipV="1">
            <a:off x="7955280" y="2606040"/>
            <a:ext cx="822960" cy="137160"/>
          </a:xfrm>
          <a:prstGeom prst="line">
            <a:avLst/>
          </a:prstGeom>
          <a:noFill/>
          <a:ln w="25400">
            <a:solidFill>
              <a:srgbClr val="2FD9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395728"/>
            <a:ext cx="731520" cy="210312"/>
          </a:xfrm>
          <a:prstGeom prst="line">
            <a:avLst/>
          </a:prstGeom>
          <a:noFill/>
          <a:ln w="25400">
            <a:solidFill>
              <a:srgbClr val="2FD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509760" y="2304288"/>
            <a:ext cx="731520" cy="91440"/>
          </a:xfrm>
          <a:prstGeom prst="line">
            <a:avLst/>
          </a:prstGeom>
          <a:noFill/>
          <a:ln w="25400">
            <a:solidFill>
              <a:srgbClr val="2FD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41280" y="2249424"/>
            <a:ext cx="1097280" cy="54864"/>
          </a:xfrm>
          <a:prstGeom prst="line">
            <a:avLst/>
          </a:prstGeom>
          <a:noFill/>
          <a:ln w="25400">
            <a:solidFill>
              <a:srgbClr val="2FD9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955280" y="2761488"/>
            <a:ext cx="822960" cy="109728"/>
          </a:xfrm>
          <a:prstGeom prst="line">
            <a:avLst/>
          </a:prstGeom>
          <a:noFill/>
          <a:ln w="25400">
            <a:solidFill>
              <a:srgbClr val="6E86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761488"/>
            <a:ext cx="731520" cy="420624"/>
          </a:xfrm>
          <a:prstGeom prst="line">
            <a:avLst/>
          </a:prstGeom>
          <a:noFill/>
          <a:ln w="25400">
            <a:solidFill>
              <a:srgbClr val="6E86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0" y="3182112"/>
            <a:ext cx="731520" cy="237744"/>
          </a:xfrm>
          <a:prstGeom prst="line">
            <a:avLst/>
          </a:prstGeom>
          <a:noFill/>
          <a:ln w="25400">
            <a:solidFill>
              <a:srgbClr val="6E86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241280" y="2395728"/>
            <a:ext cx="1097280" cy="1024128"/>
          </a:xfrm>
          <a:prstGeom prst="line">
            <a:avLst/>
          </a:prstGeom>
          <a:noFill/>
          <a:ln w="25400">
            <a:solidFill>
              <a:srgbClr val="6E86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0" y="2322576"/>
            <a:ext cx="0" cy="1078992"/>
          </a:xfrm>
          <a:prstGeom prst="line">
            <a:avLst/>
          </a:prstGeom>
          <a:noFill/>
          <a:ln w="15875">
            <a:solidFill>
              <a:srgbClr val="E4756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351008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scanned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6908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4,988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08736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analyzed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+9.2 pts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33488" y="5285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improvement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Netanel Farhi · Idan Gilad</a:t>
            </a:r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Bar-Ilan University · DS23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PAIRS TRADING — SIMPLE EXPLANATION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game: two stocks, one gap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 flipV="1">
            <a:off x="868680" y="2185416"/>
            <a:ext cx="777240" cy="36576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68680" y="2386584"/>
            <a:ext cx="777240" cy="36576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039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similar companies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24048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prices move together for years.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868680" y="3429000"/>
            <a:ext cx="777240" cy="182880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48456"/>
            <a:ext cx="777240" cy="182880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82496" y="3429000"/>
            <a:ext cx="0" cy="402336"/>
          </a:xfrm>
          <a:prstGeom prst="line">
            <a:avLst/>
          </a:prstGeom>
          <a:noFill/>
          <a:ln w="19050">
            <a:solidFill>
              <a:srgbClr val="C4554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96596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stretches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65960" y="37033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drifts unusually far from the other.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745736"/>
            <a:ext cx="777240" cy="164592"/>
          </a:xfrm>
          <a:prstGeom prst="line">
            <a:avLst/>
          </a:prstGeom>
          <a:noFill/>
          <a:ln w="19050">
            <a:solidFill>
              <a:srgbClr val="13A2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868680" y="4946904"/>
            <a:ext cx="777240" cy="164592"/>
          </a:xfrm>
          <a:prstGeom prst="line">
            <a:avLst/>
          </a:prstGeom>
          <a:noFill/>
          <a:ln w="19050">
            <a:solidFill>
              <a:srgbClr val="13A2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965960" y="4636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the snap-back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500176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cheaper, sell the pricier — win if the gap closes within 10 trading days.</a:t>
            </a:r>
            <a:endParaRPr lang="en-US" sz="1200" dirty="0"/>
          </a:p>
        </p:txBody>
      </p:sp>
      <p:pic>
        <p:nvPicPr>
          <p:cNvPr id="21" name="Image 0" descr="figs/eda_example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5120640" cy="3685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63640" y="5623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thing — CAT vs GS. Red dots = stretched moments.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BUSINESS PROBLEM &amp;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 — and our fix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stretched gaps do not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 time.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33375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45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5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ends in success if you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all of them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66360" y="2286000"/>
            <a:ext cx="0" cy="338328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2860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predict at signal time whether the trade will succeed —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only the good ones.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577840" y="34290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0" y="34290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34290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6600" y="34290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7" name="Shape 15"/>
          <p:cNvSpPr/>
          <p:nvPr/>
        </p:nvSpPr>
        <p:spPr>
          <a:xfrm>
            <a:off x="5742432" y="38862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38862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48272" y="38862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0" name="Shape 18"/>
          <p:cNvSpPr/>
          <p:nvPr/>
        </p:nvSpPr>
        <p:spPr>
          <a:xfrm>
            <a:off x="7251192" y="38862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43434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43434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3434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4" name="Shape 22"/>
          <p:cNvSpPr/>
          <p:nvPr/>
        </p:nvSpPr>
        <p:spPr>
          <a:xfrm>
            <a:off x="7086600" y="434340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0" y="3337560"/>
            <a:ext cx="1325880" cy="320040"/>
          </a:xfrm>
          <a:prstGeom prst="line">
            <a:avLst/>
          </a:prstGeom>
          <a:noFill/>
          <a:ln w="15875">
            <a:solidFill>
              <a:srgbClr val="162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772400" y="3950208"/>
            <a:ext cx="1325880" cy="621792"/>
          </a:xfrm>
          <a:prstGeom prst="line">
            <a:avLst/>
          </a:prstGeom>
          <a:noFill/>
          <a:ln w="15875">
            <a:solidFill>
              <a:srgbClr val="16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74904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8" name="Shape 26"/>
          <p:cNvSpPr/>
          <p:nvPr/>
        </p:nvSpPr>
        <p:spPr>
          <a:xfrm>
            <a:off x="8595360" y="3840480"/>
            <a:ext cx="128016" cy="128016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29" name="Shape 27"/>
          <p:cNvSpPr/>
          <p:nvPr/>
        </p:nvSpPr>
        <p:spPr>
          <a:xfrm>
            <a:off x="9372600" y="3685032"/>
            <a:ext cx="155448" cy="15544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30" name="Shape 28"/>
          <p:cNvSpPr/>
          <p:nvPr/>
        </p:nvSpPr>
        <p:spPr>
          <a:xfrm>
            <a:off x="9921240" y="3794760"/>
            <a:ext cx="155448" cy="15544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69880" y="3685032"/>
            <a:ext cx="155448" cy="15544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18520" y="3794760"/>
            <a:ext cx="155448" cy="15544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72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trading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5577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only job: veto the bad ones.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 &amp; 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9784080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1056" y="3145536"/>
            <a:ext cx="566928" cy="56692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0" name="Text 8"/>
          <p:cNvSpPr/>
          <p:nvPr/>
        </p:nvSpPr>
        <p:spPr>
          <a:xfrm>
            <a:off x="159105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pairs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proof they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together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9976" y="3145536"/>
            <a:ext cx="566928" cy="56692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4" name="Text 12"/>
          <p:cNvSpPr/>
          <p:nvPr/>
        </p:nvSpPr>
        <p:spPr>
          <a:xfrm>
            <a:off x="437997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signals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33756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stretches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normal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68896" y="3145536"/>
            <a:ext cx="566928" cy="56692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signal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2648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measurements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57816" y="3145536"/>
            <a:ext cx="566928" cy="566928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22" name="Text 20"/>
          <p:cNvSpPr/>
          <p:nvPr/>
        </p:nvSpPr>
        <p:spPr>
          <a:xfrm>
            <a:off x="995781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154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success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91540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gap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in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3429000"/>
            <a:ext cx="4114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3429000"/>
            <a:ext cx="4114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41080" y="3429000"/>
            <a:ext cx="411480" cy="0"/>
          </a:xfrm>
          <a:prstGeom prst="line">
            <a:avLst/>
          </a:prstGeom>
          <a:noFill/>
          <a:ln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51206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5120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rule:  </a:t>
            </a:r>
            <a:pPr algn="ctr" indent="0" marL="0">
              <a:buNone/>
            </a:pPr>
            <a:r>
              <a:rPr lang="en-US" sz="12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when |z| ≥ 2   ·   success if back to |z| ≤ 0.5 within 10 trading days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IDAN GILAD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STRATEGY &amp; THE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 — and what one data point is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Statistical-arbitrage pairs trading relies on price spreads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mean-reverting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though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pose the main risk. We use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select pairs, then the question (will an extreme spread revert?) will be dealt by the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observation is an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event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the specific z-score and horizon and our dataset is based on this event.</a:t>
            </a:r>
            <a:endParaRPr lang="en-US" sz="1350" dirty="0"/>
          </a:p>
        </p:txBody>
      </p:sp>
      <p:pic>
        <p:nvPicPr>
          <p:cNvPr id="9" name="Image 0" descr="figs/gilad_corr_matri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434840" cy="4032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59436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with hierarchical clustering — energy, tech and banking stocks fall into their own clusters (9-ticker example).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IDAN GILAD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COINTEGRATION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Cointegration: testing the gap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a statistically sound Pairs Trading strategy, we run the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Dickey-Fuller (ADF)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diagnostic tests.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 two-step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cointegration approach. By regressing the primary asset on its tracking peer, we model the </a:t>
            </a:r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residuals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allows us to trade high-probability mean-reversion trades.</a:t>
            </a:r>
            <a:endParaRPr lang="en-US" sz="1350" dirty="0"/>
          </a:p>
        </p:txBody>
      </p:sp>
      <p:pic>
        <p:nvPicPr>
          <p:cNvPr id="9" name="Image 0" descr="figs/gilad_coint_6pan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4297680" cy="39684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0" y="5852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test: Pair 1’s residual spread is stationary (ADF −15.34 → cointegrated); Pair 2 drifts (ADF −1.92 → rejected).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IDAN GILAD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TIMING RULES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rules: no peeking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selection uses the formation window only.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event day t use information up to and including 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uses the future window (t, t + horizon]: did |z| fall below the exit band?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train/test split later is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time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random.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3401568"/>
            <a:ext cx="1737360" cy="512064"/>
          </a:xfrm>
          <a:prstGeom prst="rect">
            <a:avLst/>
          </a:prstGeom>
          <a:solidFill>
            <a:srgbClr val="E3E8E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34015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window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887968" y="3566160"/>
            <a:ext cx="182880" cy="182880"/>
          </a:xfrm>
          <a:prstGeom prst="ellipse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67928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81160" y="3401568"/>
            <a:ext cx="2011680" cy="512064"/>
          </a:xfrm>
          <a:prstGeom prst="rect">
            <a:avLst/>
          </a:prstGeom>
          <a:solidFill>
            <a:srgbClr val="E9F6F0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340156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t + horizon]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4343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stop at day t — the label lives only in the green zone.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48463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time → train is always earlier than test.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IDAN GILAD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SOLUTION IMPLEMENTATION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needle in a haystack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finds the look-alikes; cointegration (Engle-Granger + ADF) keeps only gaps that truly snap back.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19,110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834640" y="2423160"/>
            <a:ext cx="6949440" cy="384048"/>
          </a:xfrm>
          <a:prstGeom prst="rect">
            <a:avLst/>
          </a:prstGeom>
          <a:solidFill>
            <a:srgbClr val="3E4E63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2377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scanned per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2834640" y="3172968"/>
            <a:ext cx="2377440" cy="384048"/>
          </a:xfrm>
          <a:prstGeom prst="rect">
            <a:avLst/>
          </a:prstGeom>
          <a:solidFill>
            <a:srgbClr val="6E7E92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312724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— Pearson ≥ 0.6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877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3A2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2834640" y="3922776"/>
            <a:ext cx="868680" cy="384048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387705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cointegrated — p ≤ 0.05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repeats across </a:t>
            </a:r>
            <a:pPr indent="0" marL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rolling windows</a:t>
            </a:r>
            <a:pPr indent="0" marL="0">
              <a:buNone/>
            </a:pPr>
            <a:r>
              <a:rPr lang="en-US" sz="17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7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4,988 signals</a:t>
            </a:r>
            <a:pPr indent="0" marL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studied.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468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AMZN / GOOGL · ADBE / MSFT · AXP / MSFT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8978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897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US stocks · 11 sectors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58978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5897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prices 2018–2026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58978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897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412480" y="589788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5897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FEATURE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secret ingredient: a market map</a:t>
            </a:r>
            <a:endParaRPr lang="en-US" sz="3100" dirty="0"/>
          </a:p>
        </p:txBody>
      </p:sp>
      <p:pic>
        <p:nvPicPr>
          <p:cNvPr id="8" name="Image 0" descr="figs/regime_map_snap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297680" cy="34381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200 stocks placed by co-movement — colors are sectors. Rebuilt every month.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577840" y="196596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gets 29 measurements — mostly how the gap itself behaves. One family is ours alone: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577840" y="2852928"/>
            <a:ext cx="365760" cy="365760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834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settle into neighborhoods on the map.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77840" y="3721608"/>
            <a:ext cx="365760" cy="365760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37033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drifting away from its neighborhood is an early warning of a structural break — the pair may be failing.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577840" y="4590288"/>
            <a:ext cx="365760" cy="365760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26480" y="457200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drift becomes a number the model reads (detach_max).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77840" y="544068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9F6F0"/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54406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behavior · core 11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09560" y="5440680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F4F6F9"/>
          </a:solidFill>
          <a:ln/>
        </p:spPr>
      </p:sp>
      <p:sp>
        <p:nvSpPr>
          <p:cNvPr id="23" name="Text 20"/>
          <p:cNvSpPr/>
          <p:nvPr/>
        </p:nvSpPr>
        <p:spPr>
          <a:xfrm>
            <a:off x="7909560" y="5440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health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77840" y="5934456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9F6F0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59344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· the map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09560" y="5934456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F4F6F9"/>
          </a:solidFill>
          <a:ln/>
        </p:spPr>
      </p:sp>
      <p:sp>
        <p:nvSpPr>
          <p:cNvPr id="27" name="Text 24"/>
          <p:cNvSpPr/>
          <p:nvPr/>
        </p:nvSpPr>
        <p:spPr>
          <a:xfrm>
            <a:off x="7909560" y="59344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 ALTERNATIVES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three models?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events, same features, same time-ordered split — three different inductive biases as a robustness check.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3383280" cy="3063240"/>
          </a:xfrm>
          <a:prstGeom prst="roundRect">
            <a:avLst>
              <a:gd name="adj" fmla="val 2090"/>
            </a:avLst>
          </a:prstGeom>
          <a:solidFill>
            <a:srgbClr val="E9F6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743200"/>
            <a:ext cx="118872" cy="118872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2862072"/>
            <a:ext cx="118872" cy="118872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3044952"/>
            <a:ext cx="118872" cy="118872"/>
          </a:xfrm>
          <a:prstGeom prst="ellipse">
            <a:avLst/>
          </a:prstGeom>
          <a:solidFill>
            <a:srgbClr val="8B99A9"/>
          </a:solidFill>
          <a:ln/>
        </p:spPr>
      </p:sp>
      <p:sp>
        <p:nvSpPr>
          <p:cNvPr id="13" name="Shape 11"/>
          <p:cNvSpPr/>
          <p:nvPr/>
        </p:nvSpPr>
        <p:spPr>
          <a:xfrm>
            <a:off x="1801368" y="3008376"/>
            <a:ext cx="118872" cy="118872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2825496"/>
            <a:ext cx="118872" cy="118872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5" name="Shape 13"/>
          <p:cNvSpPr/>
          <p:nvPr/>
        </p:nvSpPr>
        <p:spPr>
          <a:xfrm>
            <a:off x="1892808" y="3200400"/>
            <a:ext cx="118872" cy="118872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1143000" y="2697480"/>
            <a:ext cx="1005840" cy="566928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97280" y="39044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IN ROLLING TESTS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431596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— the most stable model under walk-forward validation.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2423160"/>
            <a:ext cx="3383280" cy="3063240"/>
          </a:xfrm>
          <a:prstGeom prst="roundRect">
            <a:avLst>
              <a:gd name="adj" fmla="val 2090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27448" y="2743200"/>
            <a:ext cx="274320" cy="292608"/>
          </a:xfrm>
          <a:prstGeom prst="triangle">
            <a:avLst/>
          </a:prstGeom>
          <a:solidFill>
            <a:srgbClr val="13A268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608" y="3035808"/>
            <a:ext cx="0" cy="164592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11496" y="2743200"/>
            <a:ext cx="274320" cy="292608"/>
          </a:xfrm>
          <a:prstGeom prst="triangle">
            <a:avLst/>
          </a:prstGeom>
          <a:solidFill>
            <a:srgbClr val="13A268"/>
          </a:solidFill>
          <a:ln/>
        </p:spPr>
      </p:sp>
      <p:sp>
        <p:nvSpPr>
          <p:cNvPr id="24" name="Shape 22"/>
          <p:cNvSpPr/>
          <p:nvPr/>
        </p:nvSpPr>
        <p:spPr>
          <a:xfrm>
            <a:off x="5248656" y="3035808"/>
            <a:ext cx="0" cy="164592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95544" y="2743200"/>
            <a:ext cx="274320" cy="292608"/>
          </a:xfrm>
          <a:prstGeom prst="triangle">
            <a:avLst/>
          </a:prstGeom>
          <a:solidFill>
            <a:srgbClr val="13A268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2704" y="3035808"/>
            <a:ext cx="0" cy="164592"/>
          </a:xfrm>
          <a:prstGeom prst="line">
            <a:avLst/>
          </a:prstGeom>
          <a:noFill/>
          <a:ln w="19050">
            <a:solidFill>
              <a:srgbClr val="162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81728" y="39044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AUC · 0.665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81728" y="431596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trees capture feature interactions — best single-split ROC-AUC.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91856" y="2423160"/>
            <a:ext cx="3383280" cy="3063240"/>
          </a:xfrm>
          <a:prstGeom prst="roundRect">
            <a:avLst>
              <a:gd name="adj" fmla="val 2090"/>
            </a:avLst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1896" y="3081528"/>
            <a:ext cx="256032" cy="182880"/>
          </a:xfrm>
          <a:prstGeom prst="rect">
            <a:avLst/>
          </a:prstGeom>
          <a:solidFill>
            <a:srgbClr val="AEB9C6"/>
          </a:solidFill>
          <a:ln/>
        </p:spPr>
      </p:sp>
      <p:sp>
        <p:nvSpPr>
          <p:cNvPr id="32" name="Shape 30"/>
          <p:cNvSpPr/>
          <p:nvPr/>
        </p:nvSpPr>
        <p:spPr>
          <a:xfrm>
            <a:off x="8677656" y="2953512"/>
            <a:ext cx="256032" cy="310896"/>
          </a:xfrm>
          <a:prstGeom prst="rect">
            <a:avLst/>
          </a:prstGeom>
          <a:solidFill>
            <a:srgbClr val="6E7E92"/>
          </a:solidFill>
          <a:ln/>
        </p:spPr>
      </p:sp>
      <p:sp>
        <p:nvSpPr>
          <p:cNvPr id="33" name="Shape 31"/>
          <p:cNvSpPr/>
          <p:nvPr/>
        </p:nvSpPr>
        <p:spPr>
          <a:xfrm>
            <a:off x="9043416" y="2807208"/>
            <a:ext cx="256032" cy="457200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34" name="Text 32"/>
          <p:cNvSpPr/>
          <p:nvPr/>
        </p:nvSpPr>
        <p:spPr>
          <a:xfrm>
            <a:off x="8266176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266176" y="39044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TRAILED HERE · 0.656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66176" y="431596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 are data-hungry — trailed on our 4,988 events.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for all three: rank the events by P(revert).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EVALUATION METRICS &amp; RESULTS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 model learn?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rank stronger opportunities above weaker ones — all numbers on data the model never saw.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0.665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0.595 · 0.5 = coin flip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07408" y="21214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E9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0.271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≈0.19 base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91856" y="2121408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456" y="22128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0.268 · Recall 0.453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0456" y="25786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30% of events</a:t>
            </a:r>
            <a:endParaRPr lang="en-US" sz="1050" dirty="0"/>
          </a:p>
        </p:txBody>
      </p:sp>
      <p:pic>
        <p:nvPicPr>
          <p:cNvPr id="18" name="Image 0" descr="figs/eval_roc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008" y="3182112"/>
            <a:ext cx="7498080" cy="29535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61996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and precision-recall curves, held-out test · calibrated (Brier 0.145) · demo: win rate 17.5% → 26.8% on the model’s picks.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70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869680" y="54864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/>
        </p:spPr>
      </p:sp>
      <p:sp>
        <p:nvSpPr>
          <p:cNvPr id="4" name="Text 2"/>
          <p:cNvSpPr/>
          <p:nvPr/>
        </p:nvSpPr>
        <p:spPr>
          <a:xfrm>
            <a:off x="8869680" y="548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NETANEL FARHI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713232"/>
            <a:ext cx="128016" cy="128016"/>
          </a:xfrm>
          <a:prstGeom prst="rect">
            <a:avLst/>
          </a:prstGeom>
          <a:solidFill>
            <a:srgbClr val="13A268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5669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KEY INSIGHTS &amp; FUTURE IMPROVEMENTS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276856"/>
            <a:ext cx="420624" cy="420624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ranks opportunities.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precision over the base rate — in trading terms, 17.5% → 26.8% on unseen data.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328416"/>
            <a:ext cx="420624" cy="420624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harsh test.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lucky split said 0.665; strict rolling validation said 0.595. We report the honest number.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379976"/>
            <a:ext cx="420624" cy="420624"/>
          </a:xfrm>
          <a:prstGeom prst="ellipse">
            <a:avLst/>
          </a:prstGeom>
          <a:solidFill>
            <a:srgbClr val="13A26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holds the clues.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spread's own behavior predicted success — the broad market barely helped.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577840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7784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real money:  </a:t>
            </a:r>
            <a:pPr algn="ctr" indent="0" marL="0">
              <a:buNone/>
            </a:pPr>
            <a:r>
              <a:rPr lang="en-US" sz="12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costs · outside data (news sentiment, earnings) · calibrated probabilities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46304" cy="146304"/>
          </a:xfrm>
          <a:prstGeom prst="rect">
            <a:avLst/>
          </a:prstGeom>
          <a:solidFill>
            <a:srgbClr val="2FD98B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" y="21305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04672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trading, meta-labeled — the code and notebooks are open.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Netanel Farhi · Idan Gilad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5779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github.com/Saul666/MidtermProjBIU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2026-07-25T18:16:24Z</dcterms:created>
  <dcterms:modified xsi:type="dcterms:W3CDTF">2026-07-25T18:16:24Z</dcterms:modified>
</cp:coreProperties>
</file>